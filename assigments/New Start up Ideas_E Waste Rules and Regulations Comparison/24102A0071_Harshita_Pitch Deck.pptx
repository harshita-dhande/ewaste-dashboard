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ustomXml" Target="../customXml/item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ustomXml" Target="../customXml/item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"/>
          <p:cNvSpPr txBox="1"/>
          <p:nvPr/>
        </p:nvSpPr>
        <p:spPr>
          <a:xfrm>
            <a:off x="2095560" y="2432880"/>
            <a:ext cx="8001000" cy="966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6900"/>
              </a:lnSpc>
            </a:pPr>
            <a:r>
              <a:rPr lang="en-US" sz="63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Re-Loop</a:t>
            </a:r>
            <a:endParaRPr lang="en-U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286000" y="3503160"/>
            <a:ext cx="7620120" cy="80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801"/>
              </a:lnSpc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Solving the </a:t>
            </a:r>
            <a:r>
              <a:rPr lang="en-US" sz="1800" b="0" u="none" strike="noStrike">
                <a:solidFill>
                  <a:srgbClr val="0FB981"/>
                </a:solidFill>
                <a:effectLst/>
                <a:uFillTx/>
                <a:latin typeface="Arial"/>
                <a:ea typeface="Arial"/>
              </a:rPr>
              <a:t>First-Mile Collection Problem</a:t>
            </a: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for Household E-Waste via Gamified Reverse Logistics</a:t>
            </a: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571680" y="571680"/>
            <a:ext cx="5550840" cy="71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"Drawer of Doom</a:t>
            </a: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"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"/>
          <p:cNvPicPr/>
          <p:nvPr/>
        </p:nvPicPr>
        <p:blipFill>
          <a:blip r:embed="rId2"/>
          <a:stretch/>
        </p:blipFill>
        <p:spPr>
          <a:xfrm>
            <a:off x="6334200" y="0"/>
            <a:ext cx="58579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"/>
          <p:cNvSpPr txBox="1"/>
          <p:nvPr/>
        </p:nvSpPr>
        <p:spPr>
          <a:xfrm>
            <a:off x="571680" y="2500200"/>
            <a:ext cx="5550840" cy="43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Trapped Value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1680" y="3005280"/>
            <a:ext cx="528624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Millions of tons of valuable e-waste are trapped in our homes simply because driving to a specialized recycling center presents too much friction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1680" y="4148280"/>
            <a:ext cx="528624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Old smartphones, tangled cables, and dead chargers sit indefinitely in drawers, representing a massive loss of recoverable commodities and an environmental hazard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571680" y="2924280"/>
            <a:ext cx="5238720" cy="161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11999"/>
              </a:lnSpc>
            </a:pPr>
            <a:r>
              <a:rPr lang="en-US" sz="120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0%</a:t>
            </a:r>
            <a:endParaRPr lang="en-U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71680" y="4543560"/>
            <a:ext cx="5238720" cy="38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1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Consumer Initiative Success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381720" y="2433600"/>
            <a:ext cx="5500800" cy="43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Infrastructure Exists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381720" y="2938320"/>
            <a:ext cx="523872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The waste exists in abundance, and the recycling infrastructure is ready to process it. The critical failure point is the </a:t>
            </a: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first-mile collection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381720" y="3995640"/>
            <a:ext cx="5238720" cy="12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By relying entirely on consumer goodwill and proactive transport to distant facilities, the current model guarantees failure, especially for low-weight micro-electronics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Core Bottleneck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"/>
          <p:cNvPicPr/>
          <p:nvPr/>
        </p:nvPicPr>
        <p:blipFill>
          <a:blip r:embed="rId2"/>
          <a:stretch/>
        </p:blipFill>
        <p:spPr>
          <a:xfrm>
            <a:off x="571680" y="1719360"/>
            <a:ext cx="342900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"/>
          <p:cNvPicPr/>
          <p:nvPr/>
        </p:nvPicPr>
        <p:blipFill>
          <a:blip r:embed="rId3"/>
          <a:stretch/>
        </p:blipFill>
        <p:spPr>
          <a:xfrm>
            <a:off x="4381560" y="1719360"/>
            <a:ext cx="342900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"/>
          <p:cNvPicPr/>
          <p:nvPr/>
        </p:nvPicPr>
        <p:blipFill>
          <a:blip r:embed="rId4"/>
          <a:stretch/>
        </p:blipFill>
        <p:spPr>
          <a:xfrm>
            <a:off x="8191440" y="1719360"/>
            <a:ext cx="342900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"/>
          <p:cNvPicPr/>
          <p:nvPr/>
        </p:nvPicPr>
        <p:blipFill>
          <a:blip r:embed="rId5"/>
          <a:stretch/>
        </p:blipFill>
        <p:spPr>
          <a:xfrm>
            <a:off x="1857240" y="2109960"/>
            <a:ext cx="8571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301040" y="3205080"/>
            <a:ext cx="1970280" cy="84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1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Easy Listing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66880" y="3710160"/>
            <a:ext cx="2838600" cy="191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Users open the app, snap a quick photo of their tangled cables, dead chargers, or old phones, and instantly request a pickup directly from their doorstep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6"/>
          <a:stretch/>
        </p:blipFill>
        <p:spPr>
          <a:xfrm>
            <a:off x="5667480" y="2109960"/>
            <a:ext cx="8571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"/>
          <p:cNvSpPr txBox="1"/>
          <p:nvPr/>
        </p:nvSpPr>
        <p:spPr>
          <a:xfrm>
            <a:off x="4645800" y="3205080"/>
            <a:ext cx="2900520" cy="84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2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Hyperlocal Pickup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76760" y="3710160"/>
            <a:ext cx="2838600" cy="191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Gig workers (e.g., delivery drivers returning from a drop-off) are algorithmically routed to pick up the bag of electronics, removing all friction for the user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7"/>
          <a:stretch/>
        </p:blipFill>
        <p:spPr>
          <a:xfrm>
            <a:off x="9477360" y="2109960"/>
            <a:ext cx="8571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 txBox="1"/>
          <p:nvPr/>
        </p:nvSpPr>
        <p:spPr>
          <a:xfrm>
            <a:off x="8586000" y="3205080"/>
            <a:ext cx="2640240" cy="84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3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Instant Rewards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486640" y="3710160"/>
            <a:ext cx="2838600" cy="1614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Instead of paying for pickup, users earn digital cash, sustainability points, or brand discount coupons, gamifying the recycling process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8"/>
          <a:stretch/>
        </p:blipFill>
        <p:spPr>
          <a:xfrm>
            <a:off x="2143080" y="2347920"/>
            <a:ext cx="28584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"/>
          <p:cNvPicPr/>
          <p:nvPr/>
        </p:nvPicPr>
        <p:blipFill>
          <a:blip r:embed="rId9"/>
          <a:stretch/>
        </p:blipFill>
        <p:spPr>
          <a:xfrm>
            <a:off x="5905440" y="2347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/>
          <p:cNvPicPr/>
          <p:nvPr/>
        </p:nvPicPr>
        <p:blipFill>
          <a:blip r:embed="rId10"/>
          <a:stretch/>
        </p:blipFill>
        <p:spPr>
          <a:xfrm>
            <a:off x="9715680" y="2347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Solution: </a:t>
            </a:r>
            <a:r>
              <a:rPr lang="en-US" sz="36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Reverse Gig Logistics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/>
          <p:nvPr/>
        </p:nvSpPr>
        <p:spPr>
          <a:xfrm>
            <a:off x="5524560" y="2499480"/>
            <a:ext cx="1143360" cy="57600"/>
          </a:xfrm>
          <a:custGeom>
            <a:avLst/>
            <a:gdLst/>
            <a:ahLst/>
            <a:rect l="0" t="0" r="r" b="b"/>
            <a:pathLst>
              <a:path w="3176" h="160">
                <a:moveTo>
                  <a:pt x="0" y="0"/>
                </a:moveTo>
                <a:lnTo>
                  <a:pt x="3176" y="0"/>
                </a:lnTo>
                <a:lnTo>
                  <a:pt x="3176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0FB981"/>
          </a:solidFill>
          <a:ln w="0">
            <a:noFill/>
          </a:ln>
        </p:spPr>
        <p:txBody>
          <a:bodyPr lIns="90000" tIns="12600" rIns="90000" bIns="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035440" y="2937600"/>
            <a:ext cx="8121240" cy="1620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5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Robust Revenue Strategy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286000" y="3947040"/>
            <a:ext cx="7620120" cy="878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3101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Unlocking immense value from household e-waste through a diversified, highly scalable monetization engine</a:t>
            </a: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"/>
          <p:cNvPicPr/>
          <p:nvPr/>
        </p:nvPicPr>
        <p:blipFill>
          <a:blip r:embed="rId2"/>
          <a:stretch/>
        </p:blipFill>
        <p:spPr>
          <a:xfrm>
            <a:off x="571680" y="1504800"/>
            <a:ext cx="5238720" cy="478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/>
          <p:cNvPicPr/>
          <p:nvPr/>
        </p:nvPicPr>
        <p:blipFill>
          <a:blip r:embed="rId3"/>
          <a:stretch/>
        </p:blipFill>
        <p:spPr>
          <a:xfrm>
            <a:off x="6381720" y="1504800"/>
            <a:ext cx="5238720" cy="47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1057320" y="1990800"/>
            <a:ext cx="4480560" cy="50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1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Bulk Material Scrap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57320" y="2543040"/>
            <a:ext cx="426708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We aggregate thousands of small, low-value individual pickups into massive, high-value tons of copper, plastic, and circuit boards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57320" y="3600360"/>
            <a:ext cx="4267080" cy="131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By achieving this scale, we can bypass middlemen and sell these aggregated materials directly to certified, large-scale refineries at premium commodity rates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867360" y="1990800"/>
            <a:ext cx="4480560" cy="50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2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B2B EPR Compliance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67360" y="2543040"/>
            <a:ext cx="426708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Hardware brands are legally mandated to fund e-waste recycling through Extended Producer Responsibility (EPR) regulations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867360" y="3600360"/>
            <a:ext cx="4267080" cy="131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We charge mid-to-large consumer tech brands a premium fee to verifiably collect and recycle e-waste on their behalf, helping them easily meet strict government targets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Dual Revenue Streams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2"/>
          <a:stretch/>
        </p:blipFill>
        <p:spPr>
          <a:xfrm>
            <a:off x="571680" y="1504800"/>
            <a:ext cx="11049120" cy="47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1123920" y="5005440"/>
            <a:ext cx="9944280" cy="70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Based on our financial models, Gross Revenue (from scrap + EPR fees) ranges from ₹240-420, while Direct Costs (driver payouts + rewards) run ₹100-140, leaving a highly healthy profit per unit</a:t>
            </a:r>
            <a:r>
              <a:rPr lang="en-US" sz="15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Financial Breakdown (Per Pickup)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"/>
          <p:cNvPicPr/>
          <p:nvPr/>
        </p:nvPicPr>
        <p:blipFill>
          <a:blip r:embed="rId2"/>
          <a:stretch/>
        </p:blipFill>
        <p:spPr>
          <a:xfrm>
            <a:off x="571680" y="1488960"/>
            <a:ext cx="11049120" cy="48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 txBox="1"/>
          <p:nvPr/>
        </p:nvSpPr>
        <p:spPr>
          <a:xfrm>
            <a:off x="1123920" y="5489280"/>
            <a:ext cx="9944280" cy="7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599"/>
              </a:lnSpc>
            </a:pP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By reaching city-scale density of </a:t>
            </a:r>
            <a:r>
              <a:rPr lang="en-US" sz="1600" b="1" i="1" u="none" strike="noStrike">
                <a:solidFill>
                  <a:srgbClr val="CBD5E1"/>
                </a:solidFill>
                <a:effectLst/>
                <a:uFillTx/>
                <a:latin typeface="Helvetica-BoldOblique"/>
                <a:ea typeface="Helvetica-BoldOblique"/>
              </a:rPr>
              <a:t>12,000 pickups per month</a:t>
            </a: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, the operational model projects a </a:t>
            </a:r>
            <a:r>
              <a:rPr lang="en-US" sz="1600" b="1" i="1" u="none" strike="noStrike">
                <a:solidFill>
                  <a:srgbClr val="CBD5E1"/>
                </a:solidFill>
                <a:effectLst/>
                <a:uFillTx/>
                <a:latin typeface="Helvetica-BoldOblique"/>
                <a:ea typeface="Helvetica-BoldOblique"/>
              </a:rPr>
              <a:t>₹30L - ₹50L Net Profit</a:t>
            </a: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 in Year 1 alone</a:t>
            </a: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71680" y="5554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Highly Profitable Unit Economics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"/>
          <p:cNvPicPr/>
          <p:nvPr/>
        </p:nvPicPr>
        <p:blipFill>
          <a:blip r:embed="rId2"/>
          <a:stretch/>
        </p:blipFill>
        <p:spPr>
          <a:xfrm>
            <a:off x="6381720" y="1262160"/>
            <a:ext cx="5238720" cy="38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571680" y="1262160"/>
            <a:ext cx="5238720" cy="70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To support this high-margin revenue model, Re-Loop requires the following fundamental operational pillars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05040" y="210996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API Integrations: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Seamless connection with existing gig economy platforms to efficiently route drivers for hyperlocal pickups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05040" y="321480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Basic Sorting Hubs: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Centralized, low-cost facilities for aggregating and loosely categorizing household e-waste before refinery transport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05040" y="431964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EPR Tracking Software: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A verifiable reporting dashboard to prove collection metrics to our B2B hardware brand clients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05040" y="542448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Refinery Partnerships: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Pre-negotiated contracts with certified recyclers to guarantee premium commodity purchase rates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3"/>
          <a:stretch/>
        </p:blipFill>
        <p:spPr>
          <a:xfrm>
            <a:off x="6391440" y="1271520"/>
            <a:ext cx="5219640" cy="37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571680" y="328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Minor Operational Requirements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4"/>
          <a:stretch/>
        </p:blipFill>
        <p:spPr>
          <a:xfrm>
            <a:off x="571680" y="2128680"/>
            <a:ext cx="19044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5"/>
          <a:stretch/>
        </p:blipFill>
        <p:spPr>
          <a:xfrm>
            <a:off x="571680" y="3233880"/>
            <a:ext cx="19044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/>
          <p:cNvPicPr/>
          <p:nvPr/>
        </p:nvPicPr>
        <p:blipFill>
          <a:blip r:embed="rId6"/>
          <a:stretch/>
        </p:blipFill>
        <p:spPr>
          <a:xfrm>
            <a:off x="571680" y="4338720"/>
            <a:ext cx="19044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7"/>
          <a:stretch/>
        </p:blipFill>
        <p:spPr>
          <a:xfrm>
            <a:off x="571680" y="5443560"/>
            <a:ext cx="190440" cy="20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D1B46DEB-DC75-4DF9-B90F-EEF338EFF03A}"/>
</file>

<file path=customXml/itemProps2.xml><?xml version="1.0" encoding="utf-8"?>
<ds:datastoreItem xmlns:ds="http://schemas.openxmlformats.org/officeDocument/2006/customXml" ds:itemID="{7F6CDB38-B5E6-449A-9D14-0B30A1572B59}"/>
</file>

<file path=customXml/itemProps3.xml><?xml version="1.0" encoding="utf-8"?>
<ds:datastoreItem xmlns:ds="http://schemas.openxmlformats.org/officeDocument/2006/customXml" ds:itemID="{6D9CF2F3-1CB8-4BF7-B166-7805685FAF0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0</cp:revision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