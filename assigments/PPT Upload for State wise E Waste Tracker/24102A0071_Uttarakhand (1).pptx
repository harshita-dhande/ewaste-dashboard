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E-waste (t)</c:v>
                </c:pt>
              </c:strCache>
            </c:strRef>
          </c:tx>
          <c:spPr>
            <a:solidFill>
              <a:srgbClr val="3F7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 2016–17</c:v>
                  </c:pt>
                  <c:pt idx="1">
                    <c:v>FY 2024–25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22700</c:v>
                </c:pt>
                <c:pt idx="1">
                  <c:v>988479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1E6"/>
        </a:solidFill>
        <a:ln>
          <a:noFill/>
        </a:ln>
        <a:effectLst/>
      </c:spPr>
    </c:plotArea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7A54"/>
              </a:solidFill>
              <a:effectLst/>
            </c:spPr>
          </c:dPt>
          <c:dPt>
            <c:idx val="1"/>
            <c:bubble3D val="0"/>
            <c:spPr>
              <a:solidFill>
                <a:srgbClr val="B5495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Formally collected (43.4%)</c:v>
                </c:pt>
                <c:pt idx="1">
                  <c:v>Uncollected / leaked (56.6%)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43.4</c:v>
                </c:pt>
                <c:pt idx="1">
                  <c:v>56.6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6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DISTRICT-LEVEL DATA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in Uttarakhand: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Hill-State Paradox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generation, collection gaps, and the road to formalization across 13 districts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from the Uttarakhand E-Waste Collection Log (illustrative district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workbook) and national CPCB / PIB e-waste data  ·  2025–26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741664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48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0" name="Shape 8"/>
          <p:cNvSpPr/>
          <p:nvPr/>
        </p:nvSpPr>
        <p:spPr>
          <a:xfrm>
            <a:off x="8741664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14432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00816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B549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41664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2608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772400" y="43799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tile-map, schematic — positioned by real geography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1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TWO-SIDED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Hazard, and the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33.7 lakh kg of e-waste generated statewide every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Only 43.4% is formally collected — the rest leaks into informal channels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 of 7 monitored informal sites exceed safe Pb / Cd limits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Hill districts collect under 40% of what they generate — infrastructure gap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solidFill>
            <a:srgbClr val="3F7A54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27,600 t/yr of formal recycling capacity already installed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75.4% average material recovery rate at authorized recyclers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555 informal workers identified — a ready workforce for formalization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102 registered collection centres already exist to build 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Uttarakhand's e-waste problem isn't a lack of infrastructure — it's an uneven system where the plains process and the hills are left out.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2 of 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VS. CAPTURE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Tsunami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 e-waste system is scaling fast — but Uttarakhand still loses more than half its e-waste to informal or unrecorded channels.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21208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formally collected &amp; processed e-waste rose 43× in eight years — from 22,700 t (FY16–17) to 9,88,479 t (FY24–25).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30632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37360"/>
            <a:ext cx="562356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82880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Uttarakhand, 2025–26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 lakh kg generated · only 43.4% formally collected · the remaining 56.6% is unaccounted for.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306324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3 of 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 SITS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boundaries reproduced from a supplied reference map — shading and figures below are our own, verified workbook numbers, not the map's original labels.</a:t>
            </a:r>
            <a:endParaRPr lang="en-US" sz="1250" dirty="0"/>
          </a:p>
        </p:txBody>
      </p:sp>
      <p:pic>
        <p:nvPicPr>
          <p:cNvPr id="5" name="Image 0" descr="/home/claude/map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8640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08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map: district boundaries only — legend and per-capita values on the original graphic are unverified and not used here.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39496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collection rate by district (from our workbook)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219456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5440" y="219456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247802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Haridwar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235440" y="247802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76148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Udham Singh Nagar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0" y="27614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304495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Nainital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35440" y="304495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32841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Almora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235440" y="332841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38.7%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361188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Pauri Garhwal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235440" y="361188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389534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Tehri Garhwal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35440" y="389534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417880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Chamoli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5440" y="417880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46227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Pithoragarh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235440" y="446227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92240" y="474573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Uttarkashi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35440" y="474573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92240" y="502920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Champawat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235440" y="502920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531266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Bageshwar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235440" y="531266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92240" y="559612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Rudraprayag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235440" y="55961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4 of 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PLAINS VS. HILLS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Matrix: Collection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Dehradun, Haridwar, Udham Singh Nagar &amp; Nainital vs. the remaining nine hill districts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4023360"/>
        </p:xfrm>
        <a:graphic>
          <a:graphicData uri="http://schemas.openxmlformats.org/drawingml/2006/table">
            <a:tbl>
              <a:tblPr/>
              <a:tblGrid>
                <a:gridCol w="5120640"/>
                <a:gridCol w="301752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Plains Districts (4)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Hill Districts (9)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collection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per-capita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collection centres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Districts with an authorized recycler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Installed recycling 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state e-waste generated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hills generate a quarter of the state's e-waste but hold almost none of its formal capacity to handle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5 of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a District-Balanced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grounded in what the data already shows is working and what isn't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08760" y="182880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920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&amp; Protect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2860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555 identified informal workers into registration and training, starting with the 3 already-partially-formalized clusters (Patel Nagar, Kashipur, Jwalapur) before tackling the 4 still fully informal.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08760" y="324612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3375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033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recycler capacity beyond the 5 hub districts. Prioritize the 8 hill districts with zero authorized recyclers, using Uttarkashi's single small unit as the proof of concept.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08760" y="466344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7548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&amp; Innovate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Regulatory Compliance (9.0/15) and Collection Performance (8.7/20) — the two weakest of the 7 scorecard categories — by closing the plains-to-hills centre gap (67 vs. 35).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Sustainable, district-balanced e-waste infrastructure is the cornerstone for turning Uttarakhand's hill-state paradox into a hill-state model.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6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7696E3D9-59FE-4D8F-B0ED-506EB6DCC266}"/>
</file>

<file path=customXml/itemProps2.xml><?xml version="1.0" encoding="utf-8"?>
<ds:datastoreItem xmlns:ds="http://schemas.openxmlformats.org/officeDocument/2006/customXml" ds:itemID="{31FF45F7-EF1F-45D3-AE7B-F6E4D80D297B}"/>
</file>

<file path=customXml/itemProps3.xml><?xml version="1.0" encoding="utf-8"?>
<ds:datastoreItem xmlns:ds="http://schemas.openxmlformats.org/officeDocument/2006/customXml" ds:itemID="{066879A2-8848-47EF-89FA-81F4E26864E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2026-08-10T08:56:11Z</dcterms:created>
  <dcterms:modified xsi:type="dcterms:W3CDTF">2026-08-10T08:56:11Z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